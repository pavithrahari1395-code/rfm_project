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4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148000</c:v>
                </c:pt>
                <c:pt idx="1">
                  <c:v>186000</c:v>
                </c:pt>
                <c:pt idx="2">
                  <c:v>211000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09867408"/>
        <c:axId val="309853808"/>
      </c:barChart>
      <c:catAx>
        <c:axId val="3098674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309853808"/>
        <c:crosses val="autoZero"/>
        <c:auto val="1"/>
        <c:lblAlgn val="ctr"/>
        <c:lblOffset val="100"/>
        <c:noMultiLvlLbl val="1"/>
      </c:catAx>
      <c:valAx>
        <c:axId val="309853808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309867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Rate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Champions</c:v>
                </c:pt>
                <c:pt idx="1">
                  <c:v>Loyal</c:v>
                </c:pt>
                <c:pt idx="2">
                  <c:v>Potential</c:v>
                </c:pt>
                <c:pt idx="3">
                  <c:v>New Cust.</c:v>
                </c:pt>
                <c:pt idx="4">
                  <c:v>At Risk</c:v>
                </c:pt>
                <c:pt idx="5">
                  <c:v>Hibernating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</c:v>
                </c:pt>
                <c:pt idx="1">
                  <c:v>72</c:v>
                </c:pt>
                <c:pt idx="2">
                  <c:v>55</c:v>
                </c:pt>
                <c:pt idx="3">
                  <c:v>12</c:v>
                </c:pt>
                <c:pt idx="4">
                  <c:v>38</c:v>
                </c:pt>
                <c:pt idx="5">
                  <c:v>22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09861968"/>
        <c:axId val="309867952"/>
      </c:barChart>
      <c:catAx>
        <c:axId val="3098619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309867952"/>
        <c:crosses val="autoZero"/>
        <c:auto val="1"/>
        <c:lblAlgn val="ctr"/>
        <c:lblOffset val="100"/>
        <c:noMultiLvlLbl val="1"/>
      </c:catAx>
      <c:valAx>
        <c:axId val="3098679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309861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68000</c:v>
                </c:pt>
                <c:pt idx="1">
                  <c:v>72000</c:v>
                </c:pt>
                <c:pt idx="2">
                  <c:v>81000</c:v>
                </c:pt>
                <c:pt idx="3">
                  <c:v>76000</c:v>
                </c:pt>
                <c:pt idx="4">
                  <c:v>78000</c:v>
                </c:pt>
                <c:pt idx="5">
                  <c:v>65000</c:v>
                </c:pt>
                <c:pt idx="6">
                  <c:v>55000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09869040"/>
        <c:axId val="309858160"/>
      </c:barChart>
      <c:catAx>
        <c:axId val="309869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309858160"/>
        <c:crosses val="autoZero"/>
        <c:auto val="1"/>
        <c:lblAlgn val="ctr"/>
        <c:lblOffset val="100"/>
        <c:noMultiLvlLbl val="1"/>
      </c:catAx>
      <c:valAx>
        <c:axId val="30985816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309869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206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71821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4870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78390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7485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4196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006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1123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12375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45982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607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50909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5602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440084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70390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55115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7693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061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91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474720" cy="347472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2011680"/>
            <a:ext cx="2011680" cy="201168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D9488"/>
                </a:solidFill>
              </a:rPr>
              <a:t>CUSTOMER INTELLIGENCE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/>
              <a:t>RFM Customer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/>
              <a:t>Segmentation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85292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4B8A6"/>
                </a:solidFill>
              </a:rPr>
              <a:t>Analysis &amp; Strategic Insights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02920" y="3364992"/>
            <a:ext cx="25603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Recency  ·  Frequency  ·  Monetary  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4480560"/>
            <a:ext cx="98755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48056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Champions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563624" y="4480560"/>
            <a:ext cx="987552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63624" y="448056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Loyal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624328" y="4480560"/>
            <a:ext cx="98755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448056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85032" y="4480560"/>
            <a:ext cx="98755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5032" y="448056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Potential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45736" y="4480560"/>
            <a:ext cx="987552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5736" y="448056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806440" y="4480560"/>
            <a:ext cx="987552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448056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Can't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867144" y="4480560"/>
            <a:ext cx="987552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67144" y="448056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Lost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927848" y="4480560"/>
            <a:ext cx="987552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27848" y="448056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Hibernating</a:t>
            </a:r>
            <a:endParaRPr lang="en-US" sz="750" dirty="0"/>
          </a:p>
        </p:txBody>
      </p:sp>
      <p:sp>
        <p:nvSpPr>
          <p:cNvPr id="27" name="TextBox 26"/>
          <p:cNvSpPr txBox="1"/>
          <p:nvPr/>
        </p:nvSpPr>
        <p:spPr>
          <a:xfrm>
            <a:off x="5123432" y="3783243"/>
            <a:ext cx="2903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Pavithra Venugopal</a:t>
            </a:r>
            <a:endParaRPr lang="en-IN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4B8A6"/>
                </a:solidFill>
              </a:rPr>
              <a:t>Slide 2 of </a:t>
            </a:r>
            <a:r>
              <a:rPr lang="en-US" sz="900" dirty="0" smtClean="0">
                <a:solidFill>
                  <a:srgbClr val="14B8A6"/>
                </a:solidFill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1600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22960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987552"/>
            <a:ext cx="1380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</a:rPr>
              <a:t>~700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01752" y="1554480"/>
            <a:ext cx="1453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Unique Customers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02536" y="822960"/>
            <a:ext cx="1600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02536" y="822960"/>
            <a:ext cx="16002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12264" y="987552"/>
            <a:ext cx="1380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</a:rPr>
              <a:t>1,000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075688" y="1554480"/>
            <a:ext cx="1453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Transactions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76472" y="822960"/>
            <a:ext cx="1600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76472" y="822960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987552"/>
            <a:ext cx="1380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</a:rPr>
              <a:t>$500K+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849624" y="1554480"/>
            <a:ext cx="1453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Total Revenue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50408" y="822960"/>
            <a:ext cx="1600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50408" y="822960"/>
            <a:ext cx="16002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0136" y="987552"/>
            <a:ext cx="1380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</a:rPr>
              <a:t>61 days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623560" y="1554480"/>
            <a:ext cx="1453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Avg Recency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24344" y="822960"/>
            <a:ext cx="1600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24344" y="822960"/>
            <a:ext cx="1600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34072" y="987552"/>
            <a:ext cx="1380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</a:rPr>
              <a:t>1.4×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397496" y="1554480"/>
            <a:ext cx="1453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Avg Frequency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2176272"/>
            <a:ext cx="41148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2240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Segment Distribution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606040"/>
            <a:ext cx="164592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2606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Champions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57984" y="2606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18%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33472" y="2606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Highest value — protect &amp; grow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2862072"/>
            <a:ext cx="164592" cy="1737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2862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Loyal Customers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157984" y="2862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66F1"/>
                </a:solidFill>
              </a:rPr>
              <a:t>15%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633472" y="2862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Strong frequency — upsell ready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3118104"/>
            <a:ext cx="164592" cy="17373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" y="31181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Hibernating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157984" y="31181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855F7"/>
                </a:solidFill>
              </a:rPr>
              <a:t>22%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633472" y="31181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Largest at-risk pool — re-engage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74320" y="3374136"/>
            <a:ext cx="164592" cy="1737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" y="33741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At Risk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157984" y="3374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97316"/>
                </a:solidFill>
              </a:rPr>
              <a:t>14%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633472" y="33741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Declining recency — act now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3630168"/>
            <a:ext cx="164592" cy="1737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3630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New Customers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157984" y="3630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11%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633472" y="3630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Onboard &amp; convert to loyal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3886200"/>
            <a:ext cx="164592" cy="173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" y="3886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Potential Loyalists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157984" y="38862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10%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633472" y="3886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Mid-funnel — loyalty nudge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74320" y="4142232"/>
            <a:ext cx="164592" cy="17373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2064" y="4142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Can't Lose Them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157984" y="4142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C4899"/>
                </a:solidFill>
              </a:rPr>
              <a:t>6%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633472" y="4142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High past value — win back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74320" y="4398264"/>
            <a:ext cx="164592" cy="1737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2064" y="43982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Lost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157984" y="43982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4%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633472" y="43982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Minimal ROI — last-chance offer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553712" y="2176272"/>
            <a:ext cx="4361688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663440" y="22402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Strategic Snapshot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663440" y="267004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64608" y="261518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Champions + Loyal = 33% of base drive ~55% of revenue — maximum retention priority.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663440" y="3118104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64608" y="306324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Hibernating (22%) is the single largest segment; a re-engagement campaign here has the highest absolute upside.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663440" y="356616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64608" y="351129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At Risk customers still have recent history — a 7-day targeted offer can reverse lapse before it becomes permanent.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663440" y="4014216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64608" y="395935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New Customers (11%) represent fresh acquisition; structured onboarding in the first 30 days is critical to long-term LTV.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63440" y="4462272"/>
            <a:ext cx="128016" cy="12801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64608" y="440740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Can't Lose Them customers spent heavily historically — VIP win-back has the highest revenue-per-contact ROI.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CHURN RISK  ·  RETENTION  ·  MARKETING STRATEGY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87171"/>
                </a:solidFill>
              </a:rPr>
              <a:t>Slide 3 of </a:t>
            </a:r>
            <a:r>
              <a:rPr lang="en-US" sz="900" dirty="0" smtClean="0">
                <a:solidFill>
                  <a:srgbClr val="F87171"/>
                </a:solidFill>
              </a:rPr>
              <a:t>8</a:t>
            </a:r>
          </a:p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41248"/>
            <a:ext cx="425196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8696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0D1B2A"/>
                </a:solidFill>
              </a:rPr>
              <a:t>Churn-Risk </a:t>
            </a:r>
            <a:r>
              <a:rPr lang="en-US" sz="1050" b="1" dirty="0">
                <a:solidFill>
                  <a:srgbClr val="0D1B2A"/>
                </a:solidFill>
              </a:rPr>
              <a:t>Identification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" y="12344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</a:rPr>
              <a:t>Churn Score  Segment  Size  Avg Recency  Intervention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92608" y="1426464"/>
            <a:ext cx="4114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1481328"/>
            <a:ext cx="4114800" cy="566928"/>
          </a:xfrm>
          <a:prstGeom prst="rect">
            <a:avLst/>
          </a:prstGeom>
          <a:solidFill>
            <a:srgbClr val="FFEDD5"/>
          </a:solidFill>
          <a:ln w="63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" y="1481328"/>
            <a:ext cx="64008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627632"/>
            <a:ext cx="384048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2763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" y="1536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At Risk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" y="173736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14% customers  ·  Recency ~45d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41248" y="186537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97316"/>
                </a:solidFill>
              </a:rPr>
              <a:t>→ Personalised 20% discount within 7 days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92608" y="2139696"/>
            <a:ext cx="4114800" cy="566928"/>
          </a:xfrm>
          <a:prstGeom prst="rect">
            <a:avLst/>
          </a:prstGeom>
          <a:solidFill>
            <a:srgbClr val="F3E8FF"/>
          </a:solidFill>
          <a:ln w="635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2608" y="2139696"/>
            <a:ext cx="64008" cy="5669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286000"/>
            <a:ext cx="384048" cy="2743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28600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" y="21945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Hibernating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" y="239572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22% customers  ·  Recency ~68d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1248" y="252374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855F7"/>
                </a:solidFill>
              </a:rPr>
              <a:t>→ 'We miss you' email + seasonal offer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92608" y="2798064"/>
            <a:ext cx="4114800" cy="566928"/>
          </a:xfrm>
          <a:prstGeom prst="rect">
            <a:avLst/>
          </a:prstGeom>
          <a:solidFill>
            <a:srgbClr val="FCE7F3"/>
          </a:solidFill>
          <a:ln w="635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2798064"/>
            <a:ext cx="64008" cy="5669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2944368"/>
            <a:ext cx="384048" cy="2743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94436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" y="28529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Can't Lose Them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" y="305409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6% customers  ·  Recency ~80d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41248" y="318211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C4899"/>
                </a:solidFill>
              </a:rPr>
              <a:t>→ VIP call + exclusive bundle access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92608" y="3456432"/>
            <a:ext cx="41148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92608" y="3456432"/>
            <a:ext cx="64008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" y="3602736"/>
            <a:ext cx="384048" cy="2743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60273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1248" y="35112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Lost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1248" y="371246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4% customers  ·  Recency ~90d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41248" y="384048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→ 30%+ last-chance campaign; de-prioritise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663440" y="841248"/>
            <a:ext cx="425196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841248"/>
            <a:ext cx="425196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8869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0D1B2A"/>
                </a:solidFill>
              </a:rPr>
              <a:t>Marketing </a:t>
            </a:r>
            <a:r>
              <a:rPr lang="en-US" sz="1050" b="1" dirty="0">
                <a:solidFill>
                  <a:srgbClr val="0D1B2A"/>
                </a:solidFill>
              </a:rPr>
              <a:t>Strategy Matrix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18304" y="1298448"/>
            <a:ext cx="6400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13075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Champions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46320" y="147218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Early access drops · VIP loyalty tier · Referral rewards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065008" y="1353312"/>
            <a:ext cx="62179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65008" y="1353312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0% off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1728216"/>
            <a:ext cx="64008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17373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Loyal Customers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46320" y="1901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Spend-threshold bonuses · Premium membership perks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065008" y="1783080"/>
            <a:ext cx="621792" cy="2194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65008" y="1783080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5% off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718304" y="2157984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21671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Potential Loyalists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46320" y="23317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Loyalty-point intro · Social proof · Product education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065008" y="2212848"/>
            <a:ext cx="621792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65008" y="2212848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10% off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718304" y="2587752"/>
            <a:ext cx="64008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25968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New Customers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846320" y="276148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Welcome drip (D3/7/14/30) · First repeat incentive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8065008" y="2642616"/>
            <a:ext cx="621792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65008" y="2642616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10% off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718304" y="3017520"/>
            <a:ext cx="6400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30266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At Risk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846320" y="31912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Time-sensitive 'We miss you' · Personalised recommendation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65008" y="3072384"/>
            <a:ext cx="621792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65008" y="3072384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20% off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718304" y="3447288"/>
            <a:ext cx="64008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46320" y="34564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Hibernating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846320" y="362102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Low-cost email drip · Seasonal re-engagement · Retargeting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8065008" y="3502152"/>
            <a:ext cx="621792" cy="2194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065008" y="3502152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20% off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718304" y="3877056"/>
            <a:ext cx="64008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46320" y="3886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Can't Lose Them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846320" y="40507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Account manager call · VIP exclusive bundle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8065008" y="3931920"/>
            <a:ext cx="621792" cy="21945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065008" y="3931920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25% off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718304" y="4306824"/>
            <a:ext cx="64008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46320" y="43159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Lost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4846320" y="44805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Heavy discount code · Unsubscribe prevention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8065008" y="4361688"/>
            <a:ext cx="621792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065008" y="4361688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30% off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PRODUCT DEVELOPMENT  ·  GEOGRAPHIC TARGETING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9E0B"/>
                </a:solidFill>
              </a:rPr>
              <a:t>Slide 4 of </a:t>
            </a:r>
            <a:r>
              <a:rPr lang="en-US" sz="900" dirty="0" smtClean="0">
                <a:solidFill>
                  <a:srgbClr val="F59E0B"/>
                </a:solidFill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41248"/>
            <a:ext cx="4251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8696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0D1B2A"/>
                </a:solidFill>
              </a:rPr>
              <a:t>Product </a:t>
            </a:r>
            <a:r>
              <a:rPr lang="en-US" sz="1050" b="1" dirty="0">
                <a:solidFill>
                  <a:srgbClr val="0D1B2A"/>
                </a:solidFill>
              </a:rPr>
              <a:t>Preference by Segment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34440" y="1069848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Product 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84248" y="1069848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Product B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34056" y="1069848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Product 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83864" y="1069848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Product 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D9488"/>
                </a:solidFill>
              </a:rPr>
              <a:t>Champions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271016" y="1325880"/>
            <a:ext cx="676656" cy="365760"/>
          </a:xfrm>
          <a:prstGeom prst="rect">
            <a:avLst/>
          </a:prstGeom>
          <a:solidFill>
            <a:srgbClr val="0D9488">
              <a:alpha val="91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1016" y="1325880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65A4A"/>
                </a:solidFill>
              </a:rPr>
              <a:t>★ High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020824" y="1325880"/>
            <a:ext cx="676656" cy="365760"/>
          </a:xfrm>
          <a:prstGeom prst="rect">
            <a:avLst/>
          </a:prstGeom>
          <a:solidFill>
            <a:srgbClr val="0D9488">
              <a:alpha val="73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0824" y="1325880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65A4A"/>
                </a:solidFill>
              </a:rPr>
              <a:t>Strong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770632" y="1325880"/>
            <a:ext cx="676656" cy="365760"/>
          </a:xfrm>
          <a:prstGeom prst="rect">
            <a:avLst/>
          </a:prstGeom>
          <a:solidFill>
            <a:srgbClr val="0D9488">
              <a:alpha val="82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0632" y="1325880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65A4A"/>
                </a:solidFill>
              </a:rPr>
              <a:t>Strong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520440" y="1325880"/>
            <a:ext cx="676656" cy="365760"/>
          </a:xfrm>
          <a:prstGeom prst="rect">
            <a:avLst/>
          </a:prstGeom>
          <a:solidFill>
            <a:srgbClr val="0D9488">
              <a:alpha val="55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1325880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Moderate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" y="18379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366F1"/>
                </a:solidFill>
              </a:rPr>
              <a:t>Loyal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271016" y="1746504"/>
            <a:ext cx="676656" cy="365760"/>
          </a:xfrm>
          <a:prstGeom prst="rect">
            <a:avLst/>
          </a:prstGeom>
          <a:solidFill>
            <a:srgbClr val="0D9488">
              <a:alpha val="82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71016" y="1746504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65A4A"/>
                </a:solidFill>
              </a:rPr>
              <a:t>Strong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020824" y="1746504"/>
            <a:ext cx="676656" cy="365760"/>
          </a:xfrm>
          <a:prstGeom prst="rect">
            <a:avLst/>
          </a:prstGeom>
          <a:solidFill>
            <a:srgbClr val="0D9488">
              <a:alpha val="91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20824" y="1746504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65A4A"/>
                </a:solidFill>
              </a:rPr>
              <a:t>★ High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770632" y="1746504"/>
            <a:ext cx="676656" cy="365760"/>
          </a:xfrm>
          <a:prstGeom prst="rect">
            <a:avLst/>
          </a:prstGeom>
          <a:solidFill>
            <a:srgbClr val="0D9488">
              <a:alpha val="64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70632" y="1746504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Moderate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520440" y="1746504"/>
            <a:ext cx="676656" cy="365760"/>
          </a:xfrm>
          <a:prstGeom prst="rect">
            <a:avLst/>
          </a:prstGeom>
          <a:solidFill>
            <a:srgbClr val="0D9488">
              <a:alpha val="73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1746504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65A4A"/>
                </a:solidFill>
              </a:rPr>
              <a:t>Strong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74320" y="2258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22C55E"/>
                </a:solidFill>
              </a:rPr>
              <a:t>New Cust.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271016" y="2167128"/>
            <a:ext cx="676656" cy="365760"/>
          </a:xfrm>
          <a:prstGeom prst="rect">
            <a:avLst/>
          </a:prstGeom>
          <a:solidFill>
            <a:srgbClr val="0D9488">
              <a:alpha val="46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71016" y="2167128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Low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020824" y="2167128"/>
            <a:ext cx="676656" cy="365760"/>
          </a:xfrm>
          <a:prstGeom prst="rect">
            <a:avLst/>
          </a:prstGeom>
          <a:solidFill>
            <a:srgbClr val="0D9488">
              <a:alpha val="55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20824" y="2167128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Moderate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770632" y="2167128"/>
            <a:ext cx="676656" cy="365760"/>
          </a:xfrm>
          <a:prstGeom prst="rect">
            <a:avLst/>
          </a:prstGeom>
          <a:solidFill>
            <a:srgbClr val="0D9488">
              <a:alpha val="46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70632" y="2167128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Low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520440" y="2167128"/>
            <a:ext cx="676656" cy="365760"/>
          </a:xfrm>
          <a:prstGeom prst="rect">
            <a:avLst/>
          </a:prstGeom>
          <a:solidFill>
            <a:srgbClr val="0D9488">
              <a:alpha val="46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2167128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Low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74320" y="2679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59E0B"/>
                </a:solidFill>
              </a:rPr>
              <a:t>At Risk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271016" y="2587752"/>
            <a:ext cx="676656" cy="365760"/>
          </a:xfrm>
          <a:prstGeom prst="rect">
            <a:avLst/>
          </a:prstGeom>
          <a:solidFill>
            <a:srgbClr val="0D9488">
              <a:alpha val="55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71016" y="2587752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Moderate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020824" y="2587752"/>
            <a:ext cx="676656" cy="365760"/>
          </a:xfrm>
          <a:prstGeom prst="rect">
            <a:avLst/>
          </a:prstGeom>
          <a:solidFill>
            <a:srgbClr val="0D9488">
              <a:alpha val="64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20824" y="2587752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Moderate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770632" y="2587752"/>
            <a:ext cx="676656" cy="365760"/>
          </a:xfrm>
          <a:prstGeom prst="rect">
            <a:avLst/>
          </a:prstGeom>
          <a:solidFill>
            <a:srgbClr val="0D9488">
              <a:alpha val="73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70632" y="2587752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65A4A"/>
                </a:solidFill>
              </a:rPr>
              <a:t>Strong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520440" y="2587752"/>
            <a:ext cx="676656" cy="365760"/>
          </a:xfrm>
          <a:prstGeom prst="rect">
            <a:avLst/>
          </a:prstGeom>
          <a:solidFill>
            <a:srgbClr val="0D9488">
              <a:alpha val="46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20440" y="2587752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Low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74320" y="3099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97316"/>
                </a:solidFill>
              </a:rPr>
              <a:t>Hibernating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271016" y="3008376"/>
            <a:ext cx="676656" cy="365760"/>
          </a:xfrm>
          <a:prstGeom prst="rect">
            <a:avLst/>
          </a:prstGeom>
          <a:solidFill>
            <a:srgbClr val="0D9488">
              <a:alpha val="64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71016" y="3008376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Moderate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020824" y="3008376"/>
            <a:ext cx="676656" cy="365760"/>
          </a:xfrm>
          <a:prstGeom prst="rect">
            <a:avLst/>
          </a:prstGeom>
          <a:solidFill>
            <a:srgbClr val="0D9488">
              <a:alpha val="55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20824" y="3008376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Moderate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770632" y="3008376"/>
            <a:ext cx="676656" cy="365760"/>
          </a:xfrm>
          <a:prstGeom prst="rect">
            <a:avLst/>
          </a:prstGeom>
          <a:solidFill>
            <a:srgbClr val="0D9488">
              <a:alpha val="73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70632" y="3008376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65A4A"/>
                </a:solidFill>
              </a:rPr>
              <a:t>Strong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520440" y="3008376"/>
            <a:ext cx="676656" cy="365760"/>
          </a:xfrm>
          <a:prstGeom prst="rect">
            <a:avLst/>
          </a:prstGeom>
          <a:solidFill>
            <a:srgbClr val="0D9488">
              <a:alpha val="64000"/>
            </a:srgbClr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20440" y="3008376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Moderate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92608" y="3493008"/>
            <a:ext cx="64008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" y="349300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Products A &amp; C dominate Champions revenue — invest in premium variants &amp; bundles.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92608" y="3922776"/>
            <a:ext cx="64008" cy="3200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9768" y="392277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Low-engagement cells = untapped cross-sell — trial bundle offers for those segments.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92608" y="4352544"/>
            <a:ext cx="64008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9768" y="435254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Product skewed to Hibernating only = investigate satisfaction &amp; churn correlation.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663440" y="841248"/>
            <a:ext cx="425196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663440" y="841248"/>
            <a:ext cx="4251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73168" y="88696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b="1" dirty="0" smtClean="0">
              <a:solidFill>
                <a:srgbClr val="0D1B2A"/>
              </a:solidFill>
            </a:endParaRPr>
          </a:p>
          <a:p>
            <a:pPr marL="0" indent="0">
              <a:buNone/>
            </a:pPr>
            <a:r>
              <a:rPr lang="en-US" sz="1050" b="1" dirty="0" smtClean="0">
                <a:solidFill>
                  <a:srgbClr val="0D1B2A"/>
                </a:solidFill>
              </a:rPr>
              <a:t>Geographic </a:t>
            </a:r>
            <a:r>
              <a:rPr lang="en-US" sz="1050" b="1" dirty="0">
                <a:solidFill>
                  <a:srgbClr val="0D1B2A"/>
                </a:solidFill>
              </a:rPr>
              <a:t>Targeting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4754880" y="12801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</a:rPr>
              <a:t>Region       Revenue      Customers   Tier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754880" y="1536192"/>
            <a:ext cx="4069080" cy="45720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754880" y="1536192"/>
            <a:ext cx="6400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82896" y="15910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London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797296" y="159105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$142K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882896" y="1810512"/>
            <a:ext cx="2286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37960" y="15910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185 customers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7498080" y="1627632"/>
            <a:ext cx="100584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98080" y="162763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PREMIUM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754880" y="2066544"/>
            <a:ext cx="406908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754880" y="2066544"/>
            <a:ext cx="64008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82896" y="21214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New York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5797296" y="21214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66F1"/>
                </a:solidFill>
              </a:rPr>
              <a:t>$138K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882896" y="2340864"/>
            <a:ext cx="2221606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37960" y="21214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175 customers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498080" y="2157984"/>
            <a:ext cx="1005840" cy="2194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98080" y="215798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PREMIUM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754880" y="2596896"/>
            <a:ext cx="406908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4754880" y="2596896"/>
            <a:ext cx="6400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82896" y="2651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Tokyo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5797296" y="26517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$127K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882896" y="2871216"/>
            <a:ext cx="2044521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537960" y="2651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168 customers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7498080" y="2688336"/>
            <a:ext cx="100584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498080" y="268833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GROWTH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754880" y="3127248"/>
            <a:ext cx="4069080" cy="457200"/>
          </a:xfrm>
          <a:prstGeom prst="rect">
            <a:avLst/>
          </a:prstGeom>
          <a:solidFill>
            <a:srgbClr val="FFEDD5"/>
          </a:solidFill>
          <a:ln w="63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4754880" y="3127248"/>
            <a:ext cx="64008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82896" y="3182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Paris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5797296" y="31821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</a:rPr>
              <a:t>$119K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4882896" y="3401568"/>
            <a:ext cx="1915732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537960" y="3182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155 customers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7498080" y="3218688"/>
            <a:ext cx="100584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498080" y="321868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GROWTH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4718304" y="3657600"/>
            <a:ext cx="640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864608" y="365760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2A"/>
                </a:solidFill>
              </a:rPr>
              <a:t>London &amp; New York: premium creative, VIP events, city-exclusive early access.</a:t>
            </a:r>
            <a:endParaRPr lang="en-US" sz="780" dirty="0"/>
          </a:p>
        </p:txBody>
      </p:sp>
      <p:sp>
        <p:nvSpPr>
          <p:cNvPr id="102" name="Shape 100"/>
          <p:cNvSpPr/>
          <p:nvPr/>
        </p:nvSpPr>
        <p:spPr>
          <a:xfrm>
            <a:off x="4718304" y="4032504"/>
            <a:ext cx="6400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864608" y="403250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2A"/>
                </a:solidFill>
              </a:rPr>
              <a:t>Tokyo &amp; Paris: awareness-first — localised social + influencer + intro offers.</a:t>
            </a:r>
            <a:endParaRPr lang="en-US" sz="780" dirty="0"/>
          </a:p>
        </p:txBody>
      </p:sp>
      <p:sp>
        <p:nvSpPr>
          <p:cNvPr id="104" name="Shape 102"/>
          <p:cNvSpPr/>
          <p:nvPr/>
        </p:nvSpPr>
        <p:spPr>
          <a:xfrm>
            <a:off x="4718304" y="4407408"/>
            <a:ext cx="64008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864608" y="44074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2A"/>
                </a:solidFill>
              </a:rPr>
              <a:t>Regions with high New Cust share need onboarding; Hibernating share → re-engage.</a:t>
            </a:r>
            <a:endParaRPr lang="en-US" sz="7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SEASONAL CAMPAIGNS  ·  CROSS-SELLING &amp; BUNDLING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6F1"/>
                </a:solidFill>
              </a:rPr>
              <a:t>Slide 5 of </a:t>
            </a:r>
            <a:r>
              <a:rPr lang="en-US" sz="900" dirty="0" smtClean="0">
                <a:solidFill>
                  <a:srgbClr val="6366F1"/>
                </a:solidFill>
              </a:rPr>
              <a:t>8</a:t>
            </a:r>
          </a:p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41248"/>
            <a:ext cx="425196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8696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0D1B2A"/>
                </a:solidFill>
              </a:rPr>
              <a:t>Seasonal </a:t>
            </a:r>
            <a:r>
              <a:rPr lang="en-US" sz="1050" b="1" dirty="0">
                <a:solidFill>
                  <a:srgbClr val="0D1B2A"/>
                </a:solidFill>
              </a:rPr>
              <a:t>Revenue Trends</a:t>
            </a:r>
            <a:endParaRPr lang="en-US" sz="10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74320" y="1261872"/>
          <a:ext cx="4114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292608" y="3063240"/>
            <a:ext cx="64008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30632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April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05840" y="3108960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D1B2A"/>
                </a:solidFill>
              </a:rPr>
              <a:t>Acquisition peak → ramp onboarding sequences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292608" y="3557016"/>
            <a:ext cx="6400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" y="355701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05840" y="360273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D1B2A"/>
                </a:solidFill>
              </a:rPr>
              <a:t>Mid-ramp → loyalty reward campaigns for Champions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292608" y="4050792"/>
            <a:ext cx="64008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40507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June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05840" y="4096512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D1B2A"/>
                </a:solidFill>
              </a:rPr>
              <a:t>Revenue peak → new-product launches + referral push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292608" y="45445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Key Rule: Never apply blanket discounts during peak periods — Champions see exclusivity, not discounts.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663440" y="841248"/>
            <a:ext cx="425196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841248"/>
            <a:ext cx="42519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73168" y="88696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0D1B2A"/>
                </a:solidFill>
              </a:rPr>
              <a:t>Cross-Sell </a:t>
            </a:r>
            <a:r>
              <a:rPr lang="en-US" sz="1050" b="1" dirty="0">
                <a:solidFill>
                  <a:srgbClr val="0D1B2A"/>
                </a:solidFill>
              </a:rPr>
              <a:t>&amp; Bundle Opportunities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669280" y="1097280"/>
            <a:ext cx="6583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Prod A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663440" y="138988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Prod A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327648" y="1097280"/>
            <a:ext cx="6583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Prod 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663440" y="177393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Prod B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986016" y="1097280"/>
            <a:ext cx="6583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Prod C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663440" y="21579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Prod C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644384" y="1097280"/>
            <a:ext cx="6583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Prod D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663440" y="25420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Prod D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5705856" y="1335024"/>
            <a:ext cx="603504" cy="347472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64224" y="1335024"/>
            <a:ext cx="603504" cy="347472"/>
          </a:xfrm>
          <a:prstGeom prst="rect">
            <a:avLst/>
          </a:prstGeom>
          <a:solidFill>
            <a:srgbClr val="F97316">
              <a:alpha val="75000"/>
            </a:srgbClr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64224" y="1335024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87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022592" y="1335024"/>
            <a:ext cx="603504" cy="347472"/>
          </a:xfrm>
          <a:prstGeom prst="rect">
            <a:avLst/>
          </a:prstGeom>
          <a:solidFill>
            <a:srgbClr val="F97316">
              <a:alpha val="81000"/>
            </a:srgbClr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22592" y="1335024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2D12"/>
                </a:solidFill>
              </a:rPr>
              <a:t>94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680960" y="1335024"/>
            <a:ext cx="603504" cy="347472"/>
          </a:xfrm>
          <a:prstGeom prst="rect">
            <a:avLst/>
          </a:prstGeom>
          <a:solidFill>
            <a:srgbClr val="F97316">
              <a:alpha val="64000"/>
            </a:srgbClr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80960" y="1335024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72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5705856" y="1719072"/>
            <a:ext cx="603504" cy="347472"/>
          </a:xfrm>
          <a:prstGeom prst="rect">
            <a:avLst/>
          </a:prstGeom>
          <a:solidFill>
            <a:srgbClr val="F97316">
              <a:alpha val="75000"/>
            </a:srgbClr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705856" y="1719072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87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364224" y="1719072"/>
            <a:ext cx="603504" cy="347472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022592" y="1719072"/>
            <a:ext cx="603504" cy="347472"/>
          </a:xfrm>
          <a:prstGeom prst="rect">
            <a:avLst/>
          </a:prstGeom>
          <a:solidFill>
            <a:srgbClr val="F97316">
              <a:alpha val="71000"/>
            </a:srgbClr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022592" y="1719072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81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7680960" y="1719072"/>
            <a:ext cx="603504" cy="347472"/>
          </a:xfrm>
          <a:prstGeom prst="rect">
            <a:avLst/>
          </a:prstGeom>
          <a:solidFill>
            <a:srgbClr val="F97316">
              <a:alpha val="76000"/>
            </a:srgbClr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80960" y="1719072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2D12"/>
                </a:solidFill>
              </a:rPr>
              <a:t>88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705856" y="2103120"/>
            <a:ext cx="603504" cy="347472"/>
          </a:xfrm>
          <a:prstGeom prst="rect">
            <a:avLst/>
          </a:prstGeom>
          <a:solidFill>
            <a:srgbClr val="F97316">
              <a:alpha val="81000"/>
            </a:srgbClr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705856" y="2103120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2D12"/>
                </a:solidFill>
              </a:rPr>
              <a:t>94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6364224" y="2103120"/>
            <a:ext cx="603504" cy="347472"/>
          </a:xfrm>
          <a:prstGeom prst="rect">
            <a:avLst/>
          </a:prstGeom>
          <a:solidFill>
            <a:srgbClr val="F97316">
              <a:alpha val="71000"/>
            </a:srgbClr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364224" y="2103120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81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7022592" y="2103120"/>
            <a:ext cx="603504" cy="347472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680960" y="2103120"/>
            <a:ext cx="603504" cy="347472"/>
          </a:xfrm>
          <a:prstGeom prst="rect">
            <a:avLst/>
          </a:prstGeom>
          <a:solidFill>
            <a:srgbClr val="F97316">
              <a:alpha val="67000"/>
            </a:srgbClr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680960" y="2103120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76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705856" y="2487168"/>
            <a:ext cx="603504" cy="347472"/>
          </a:xfrm>
          <a:prstGeom prst="rect">
            <a:avLst/>
          </a:prstGeom>
          <a:solidFill>
            <a:srgbClr val="F97316">
              <a:alpha val="64000"/>
            </a:srgbClr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705856" y="2487168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72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364224" y="2487168"/>
            <a:ext cx="603504" cy="347472"/>
          </a:xfrm>
          <a:prstGeom prst="rect">
            <a:avLst/>
          </a:prstGeom>
          <a:solidFill>
            <a:srgbClr val="F97316">
              <a:alpha val="76000"/>
            </a:srgbClr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364224" y="2487168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2D12"/>
                </a:solidFill>
              </a:rPr>
              <a:t>88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7022592" y="2487168"/>
            <a:ext cx="603504" cy="347472"/>
          </a:xfrm>
          <a:prstGeom prst="rect">
            <a:avLst/>
          </a:prstGeom>
          <a:solidFill>
            <a:srgbClr val="F97316">
              <a:alpha val="67000"/>
            </a:srgbClr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022592" y="2487168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76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7680960" y="2487168"/>
            <a:ext cx="603504" cy="347472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736592" y="290779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Darker = stronger co-purchase overlap → natural bundle pair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4718304" y="3200400"/>
            <a:ext cx="64008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846320" y="3200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Champions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4846320" y="338328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1.8 products avg</a:t>
            </a:r>
            <a:endParaRPr lang="en-US" sz="700" dirty="0"/>
          </a:p>
        </p:txBody>
      </p:sp>
      <p:sp>
        <p:nvSpPr>
          <p:cNvPr id="63" name="Text 60"/>
          <p:cNvSpPr/>
          <p:nvPr/>
        </p:nvSpPr>
        <p:spPr>
          <a:xfrm>
            <a:off x="6080760" y="323697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A"/>
                </a:solidFill>
              </a:rPr>
              <a:t>Complete the collection — premium no-discount bundle</a:t>
            </a:r>
            <a:endParaRPr lang="en-US" sz="750" dirty="0"/>
          </a:p>
        </p:txBody>
      </p:sp>
      <p:sp>
        <p:nvSpPr>
          <p:cNvPr id="64" name="Shape 61"/>
          <p:cNvSpPr/>
          <p:nvPr/>
        </p:nvSpPr>
        <p:spPr>
          <a:xfrm>
            <a:off x="4718304" y="3639312"/>
            <a:ext cx="64008" cy="3200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846320" y="36393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Loyal Cust.</a:t>
            </a:r>
            <a:endParaRPr lang="en-US" sz="850" dirty="0"/>
          </a:p>
        </p:txBody>
      </p:sp>
      <p:sp>
        <p:nvSpPr>
          <p:cNvPr id="66" name="Text 63"/>
          <p:cNvSpPr/>
          <p:nvPr/>
        </p:nvSpPr>
        <p:spPr>
          <a:xfrm>
            <a:off x="4846320" y="382219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1.5 products avg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6080760" y="367588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A"/>
                </a:solidFill>
              </a:rPr>
              <a:t>'Bought A? Try C' algorithmic recommendation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4718304" y="4078224"/>
            <a:ext cx="64008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846320" y="40782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Hibernating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4846320" y="426110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1.1 products avg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080760" y="41148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A"/>
                </a:solidFill>
              </a:rPr>
              <a:t>Break-even trial bundle — reactivation goal</a:t>
            </a:r>
            <a:endParaRPr lang="en-US" sz="750" dirty="0"/>
          </a:p>
        </p:txBody>
      </p:sp>
      <p:sp>
        <p:nvSpPr>
          <p:cNvPr id="72" name="Shape 69"/>
          <p:cNvSpPr/>
          <p:nvPr/>
        </p:nvSpPr>
        <p:spPr>
          <a:xfrm>
            <a:off x="4718304" y="4517136"/>
            <a:ext cx="64008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846320" y="45171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New Customers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4846320" y="470001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1.0 products avg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6080760" y="45537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A"/>
                </a:solidFill>
              </a:rPr>
              <a:t>Starter bundle with onboarding sequence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INDIRECT FEEDBACK  ·  DAY-OF-WEEK REVENUE PATTERNS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4B8A6"/>
                </a:solidFill>
              </a:rPr>
              <a:t>Slide 6 of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41248"/>
            <a:ext cx="425196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8696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Q7 — Indirect Feedback as Satisfaction Proxy</a:t>
            </a:r>
            <a:endParaRPr lang="en-US" sz="10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74320" y="1261872"/>
          <a:ext cx="41148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28803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Repeat Purchase Rate by Segment (%)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10896" y="320954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" y="3154680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Repeat rate &gt;60% = implicit brand endorsement — invest in retention.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0896" y="3602736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" y="3547872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Shortening inter-purchase interval (IPI) = rising satisfaction signal.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10896" y="3995928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" y="3941064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Frequency=1 in high-M segment → investigate fulfilment or quality gap.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10896" y="4389120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2064" y="4334256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Satisfaction Proxy Score enables micro-targeting within each segment.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63440" y="841248"/>
            <a:ext cx="425196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841248"/>
            <a:ext cx="425196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73168" y="88696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Q8 — Revenue by Day of Week</a:t>
            </a:r>
            <a:endParaRPr lang="en-US" sz="105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4709160" y="1261872"/>
          <a:ext cx="41148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4709160" y="28803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Wednesday peaks (teal) — optimal campaign launch day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4736592" y="320954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937760" y="3154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Wednesday = peak day → launch flash sales &amp; email blasts here for max conversions.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4736592" y="3602736"/>
            <a:ext cx="128016" cy="12801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937760" y="35478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Sunday = lowest → ideal for re-engagement promos targeting Hibernating segments.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4736592" y="399592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937760" y="394106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Mid-week days show higher avg order value — schedule premium-offer creative then.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4736592" y="4389120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937760" y="433425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Align support staffing &amp; fulfilment capacity to Wed–Fri peak demand windows.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011680" cy="201168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</a:rPr>
              <a:t>STRATEGIC ROADMAP  ·  KEY TAKEAWAYS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Turning RFM Insights into Revenue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0" y="2560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Slide 7 of </a:t>
            </a:r>
            <a:r>
              <a:rPr lang="en-US" sz="900" dirty="0"/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29260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61872"/>
            <a:ext cx="2697480" cy="3493008"/>
          </a:xfrm>
          <a:prstGeom prst="rect">
            <a:avLst/>
          </a:prstGeom>
          <a:solidFill>
            <a:srgbClr val="0A1628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261872"/>
            <a:ext cx="269748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1335024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</a:rPr>
              <a:t>IMMEDIATE  (0–30 days)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30936" y="1737360"/>
            <a:ext cx="146304" cy="146304"/>
          </a:xfrm>
          <a:prstGeom prst="ellipse">
            <a:avLst/>
          </a:prstGeom>
          <a:solidFill>
            <a:srgbClr val="F43F5E">
              <a:alpha val="6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1691640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B0C4D8"/>
                </a:solidFill>
              </a:rPr>
              <a:t>Launch re-engagement campaign for Hibernating (22% of base)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30936" y="2414016"/>
            <a:ext cx="146304" cy="146304"/>
          </a:xfrm>
          <a:prstGeom prst="ellipse">
            <a:avLst/>
          </a:prstGeom>
          <a:solidFill>
            <a:srgbClr val="F43F5E">
              <a:alpha val="6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2368296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B0C4D8"/>
                </a:solidFill>
              </a:rPr>
              <a:t>Activate VIP win-back for Can't Lose Them — highest revenue ROI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30936" y="3090672"/>
            <a:ext cx="146304" cy="146304"/>
          </a:xfrm>
          <a:prstGeom prst="ellipse">
            <a:avLst/>
          </a:prstGeom>
          <a:solidFill>
            <a:srgbClr val="F43F5E">
              <a:alpha val="6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3044952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B0C4D8"/>
                </a:solidFill>
              </a:rPr>
              <a:t>Deploy 20% discount drip for At Risk before full lapse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30936" y="3767328"/>
            <a:ext cx="146304" cy="146304"/>
          </a:xfrm>
          <a:prstGeom prst="ellipse">
            <a:avLst/>
          </a:prstGeom>
          <a:solidFill>
            <a:srgbClr val="F43F5E">
              <a:alpha val="6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" y="3721608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B0C4D8"/>
                </a:solidFill>
              </a:rPr>
              <a:t>Start onboarding email series for New Customers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355848" y="1261872"/>
            <a:ext cx="2697480" cy="3493008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5848" y="1261872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83864" y="1335024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SHORT-TERM  (30–90 days)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83864" y="1737360"/>
            <a:ext cx="146304" cy="146304"/>
          </a:xfrm>
          <a:prstGeom prst="ellipse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5032" y="1691640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B0C4D8"/>
                </a:solidFill>
              </a:rPr>
              <a:t>Build Champions referral programme &amp; loyalty tier upgrade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483864" y="2414016"/>
            <a:ext cx="146304" cy="146304"/>
          </a:xfrm>
          <a:prstGeom prst="ellipse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2368296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B0C4D8"/>
                </a:solidFill>
              </a:rPr>
              <a:t>Launch Product A+C premium bundle for Loyal Customers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483864" y="3090672"/>
            <a:ext cx="146304" cy="146304"/>
          </a:xfrm>
          <a:prstGeom prst="ellipse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5032" y="3044952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B0C4D8"/>
                </a:solidFill>
              </a:rPr>
              <a:t>Geographic premium campaigns in London &amp; New York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3483864" y="3767328"/>
            <a:ext cx="146304" cy="146304"/>
          </a:xfrm>
          <a:prstGeom prst="ellipse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85032" y="3721608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B0C4D8"/>
                </a:solidFill>
              </a:rPr>
              <a:t>Mid-week (Wed) campaign scheduling for peak engagement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6208776" y="1261872"/>
            <a:ext cx="2697480" cy="3493008"/>
          </a:xfrm>
          <a:prstGeom prst="rect">
            <a:avLst/>
          </a:prstGeom>
          <a:solidFill>
            <a:srgbClr val="0A162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08776" y="1261872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1335024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STRATEGIC  (90+ days)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36792" y="1737360"/>
            <a:ext cx="146304" cy="146304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691640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B0C4D8"/>
                </a:solidFill>
              </a:rPr>
              <a:t>Develop seasonal calendar aligned to segment peaks (Apr–Jun)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6336792" y="2414016"/>
            <a:ext cx="146304" cy="146304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2368296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B0C4D8"/>
                </a:solidFill>
              </a:rPr>
              <a:t>Implement Satisfaction Proxy Score for proactive churn alerts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6336792" y="3090672"/>
            <a:ext cx="146304" cy="146304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3044952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B0C4D8"/>
                </a:solidFill>
              </a:rPr>
              <a:t>Cross-sell matrix: formalise top bundle pairs by segment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6336792" y="3767328"/>
            <a:ext cx="146304" cy="146304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3721608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B0C4D8"/>
                </a:solidFill>
              </a:rPr>
              <a:t>Expand product line to fill heatmap gaps in low-diversity segments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502920" y="4681728"/>
            <a:ext cx="155448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46817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~22%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61288" y="470001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A5BD"/>
                </a:solidFill>
              </a:rPr>
              <a:t>Hibernating — re-engage now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221992" y="4681728"/>
            <a:ext cx="155448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95144" y="46817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~33%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880360" y="470001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A5BD"/>
                </a:solidFill>
              </a:rPr>
              <a:t>Champions + Loyal — protect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941064" y="4681728"/>
            <a:ext cx="155448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14216" y="46817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55%+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99432" y="470001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A5BD"/>
                </a:solidFill>
              </a:rPr>
              <a:t>Revenue from top 2 segments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660136" y="4681728"/>
            <a:ext cx="155448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33288" y="46817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Wed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318504" y="470001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A5BD"/>
                </a:solidFill>
              </a:rPr>
              <a:t>Best campaign launch day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379208" y="4681728"/>
            <a:ext cx="155448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52360" y="46817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A+C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037576" y="470001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A5BD"/>
                </a:solidFill>
              </a:rPr>
              <a:t>Top bundle pair</a:t>
            </a:r>
            <a:endParaRPr lang="en-US" sz="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17411" y="1584495"/>
            <a:ext cx="3943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         THANK YOU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57639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</TotalTime>
  <Words>1040</Words>
  <Application>Microsoft Office PowerPoint</Application>
  <PresentationFormat>On-screen Show (16:9)</PresentationFormat>
  <Paragraphs>253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RFM Customer Analysis</dc:title>
  <dc:subject>PptxGenJS Presentation</dc:subject>
  <dc:creator>PptxGenJS</dc:creator>
  <cp:lastModifiedBy>Pavithra Venugopal</cp:lastModifiedBy>
  <cp:revision>6</cp:revision>
  <dcterms:created xsi:type="dcterms:W3CDTF">2026-04-10T10:36:37Z</dcterms:created>
  <dcterms:modified xsi:type="dcterms:W3CDTF">2026-04-24T10:08:13Z</dcterms:modified>
</cp:coreProperties>
</file>